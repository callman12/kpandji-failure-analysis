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ECECEC"/>
                </a:solidFill>
              </a:defRPr>
            </a:pPr>
            <a:r>
              <a:t>Dreaming the Ivorian Automotive Industry</a:t>
            </a:r>
          </a:p>
          <a:p>
            <a:pPr>
              <a:spcAft>
                <a:spcPts val="2400"/>
              </a:spcAft>
              <a:defRPr sz="2200">
                <a:solidFill>
                  <a:srgbClr val="0B6623"/>
                </a:solidFill>
              </a:defRPr>
            </a:pPr>
            <a:r>
              <a:t>The Rise, Fall, and Lessons of Kpandji</a:t>
            </a:r>
          </a:p>
          <a:p>
            <a:pPr>
              <a:defRPr sz="1300">
                <a:solidFill>
                  <a:srgbClr val="BCBCBC"/>
                </a:solidFill>
              </a:defRPr>
            </a:pPr>
            <a:r>
              <a:t>A Strategic Post-Mortem Analysis in Software &amp; Industrial Engineering</a:t>
            </a:r>
            <a:br/>
            <a:r>
              <a:t>Presented by Elie Pethuel Ehoussou | IIT L3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1. Genesis &amp; Ambition: The Birth of Kpandji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The Visionary Spark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An ambitious initiative born in Côte d'Ivoire to create a homegrown automotive brand.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Symbolized national pride, technological emancipation, and industrial independence.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Aimed to challenge foreign market dominance and showcase local engineering talent.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The Core Narrative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« Dreaming of a national automotive industry is an act of faith; building it without an ecosystem is a leap into the void. »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Initiated by visionary entrepreneurs seeking to establish West Africa's industrial footprint.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Faced immediate structural friction between national ambition and local manufacturing realities.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2. Strategic Objectives &amp; Economic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Industrial Goals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Design vehicles adapted to African roads, climate, and purchasing power.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Create local employment across assembly, maintenance, and distribution chains.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Stimulate local technological transfer and mechanical engineering know-how.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Socio-Economic Impact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Reduce massive dependency on imported used vehicles ('Occasions d'Europe').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Position Abidjan as a regional hub for light vehicle manufacturing.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Foster public-private partnerships to back heavy industrial investments.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3. Business Model: SKD / CKD Assembly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Semi-Knocked Down (SKD) Model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Importation of pre-assembled chassis, engines, and major sub-assemblies from Asia.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Local final assembly, bodywork customization, and interior finishing in Côte d'Ivoire.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Pragmatic starting point to bypass lack of heavy steel foundry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The 'Local Car' Debate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Is it truly an Ivorian car or foreign kit assembly? A vital question of value chain definition.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In early industrialization stages, 100% local production is economically unviable.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The challenge lies in progressively increasing local component integration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4. The Prototype &amp; Public Enthusiasm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Public Unveiling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Strong emotional resonance and national media coverage upon prototype launch.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Generational pride: seeing an Ivorian badge on a vehicle grille.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High expectations from consumers and state officials eager for industrial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Early Warning Signals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Enthusiasm masked critical technical and financial vulnerabilities.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Discrepancy between lab prototypes and robust mass-market requirements.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Lack of rigorous pre-market endurance testing under tropical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5. Financial Anatomy: The Cost of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Capital Intensity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Automotive manufacturing is one of the most capital-intensive industries globally.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Underestimated cash flow requirements for working capital and inventory.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Difficulty in securing long-term institutional bank financing in West Africa.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Unit Economics Failure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Low production volume prevented economies of scale (high per-unit fixed cost).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Inability to compete on price against mass-produced Asian and European imports.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Rapid cash burn leading to operational paralysis before reaching break-even.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6. Supply Chain &amp; Ecosystem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Supply Chain Fragility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Heavy reliance on imported components created severe logistics bottlenecks.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Customs delays, shipping cost volatility, and foreign exchange exposure.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Absence of local tier-1 and tier-2 automotive parts suppliers.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Ecosystem Isolation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Building a car requires a dense web of specialized sub-contractors.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Lack of skilled local tooling technicians, specialized metallurgists, and labs.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Operating in an isolated vacuum without synergistic industrial clusters.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7. Market Realities &amp; Consumer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Fierce Competition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Domination of cheap, reliable, second-hand vehicles ('Occasions').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Established Japanese and Korean brands offering bulletproof reliability and parts availability.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Consumer risk aversion: hesitation to invest savings in an unproven brand.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After-Sales &amp; Maintenance Deficit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Lack of a widespread garage network, spare parts availability, and warranty backing.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Resale value uncertainty discouraged pragmatic fleet buyers and taxi syndicates.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Brand trust eroded rapidly upon encountering initial technical glitches.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8. Regulatory &amp; Institutional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Inadequate Incentives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Absence of protective tariff barriers or robust local content laws for infant industries.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Tax regimes ill-suited for heavy manufacturing investments.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Limited public procurement support (e.g., state fleets adopting local models).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Infrastructure Deficits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High electricity costs and unstable grid supply affecting assembly line efficiency.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Logistics infrastructure limitations for heavy freight transport.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Weak intellectual property and standardization testing frameworks.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9. Post-Mortem: Engineering vs. Market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Engineering Fallacy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Believing that building a working prototype equates to a viable commercial product.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Underestimating the complexity of quality assurance, ISO standards, and safety certification.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Focusing purely on product mechanics while ignoring distribution economics.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Strategic Missteps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Premature scaling without validating product-market fit at scale.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Inadequate risk management against supply chain shocks and currency fluctuations.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Failure to secure strategic joint ventures with established global automotive giants.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10. Key Lessons for African Industrialization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Ecosystem First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Never build an assembly plant without first fostering a supplier and parts ecosystem.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Start with simpler mechanical or software components before tackling complex vehicle assembly.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Invest heavily in technical vocational training and specialized engineering schools.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Pragmatic Positioning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Target specific niches first (e.g., electric tricycles, agricultural tractors, utility vans).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Build robust after-sales service and spare parts availability from day one.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Align product pricing strictly with local purchasing power realities.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11. The 'Fail Fast, Learn Faster' Paradigm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A Necessary Pioneer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Kpandji acted as the 'sacrificial lamb' of West African automotive ambition.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It exposed the hidden friction points of local manufacturing that textbooks omit.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Transformed theoretical debates into hard, empirical industrial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An Asset for Engineers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For software and hardware engineers at IIT, Kpandji is a masterclass in risk analysis.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Teaches us to evaluate system dependencies, financial burn rates, and market friction.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Lays the empirical groundwork for future successful technological ventures.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17"/>
                </a:solidFill>
              </a:defRPr>
            </a:pPr>
            <a:r>
              <a:t>KPANDJI FAILURE ANALYSIS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CEC"/>
                </a:solidFill>
              </a:defRPr>
            </a:pPr>
            <a:r>
              <a:t>12. Conclusion: The Future is Still to Be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28800" cy="54864"/>
          </a:xfrm>
          <a:prstGeom prst="rect">
            <a:avLst/>
          </a:prstGeom>
          <a:solidFill>
            <a:srgbClr val="0B6623"/>
          </a:solidFill>
          <a:ln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Beyond the Failure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Kpandji's failure is not the end of Ivorian industrial ambition; it is its true starting point.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Future projects will benefit from Kpandji's trial-and-error legacy.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The rise of African tech and engineering talent ensures better-prepared successors.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2B2B2B"/>
          </a:solidFill>
          <a:ln w="19050">
            <a:solidFill>
              <a:srgbClr val="0B6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6623"/>
                </a:solidFill>
              </a:defRPr>
            </a:pPr>
            <a:r>
              <a:t>Core Takeaway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« Kpandji's failure is not the end of the Ivorian automotive dream; it is the harsh apprenticeship without which no great edifice can rise. »</a:t>
            </a:r>
          </a:p>
          <a:p>
            <a:pPr>
              <a:spcAft>
                <a:spcPts val="800"/>
              </a:spcAft>
              <a:defRPr sz="1300">
                <a:solidFill>
                  <a:srgbClr val="ECECEC"/>
                </a:solidFill>
              </a:defRPr>
            </a:pPr>
            <a:r>
              <a:t>• Tomorrow, it is upon stronger, data-driven foundations that our generation will write the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ECECEC"/>
                </a:solidFill>
              </a:defRPr>
            </a:pPr>
            <a:r>
              <a:t>Thank You for Your Attention!</a:t>
            </a:r>
          </a:p>
          <a:p>
            <a:pPr algn="ctr">
              <a:spcAft>
                <a:spcPts val="2400"/>
              </a:spcAft>
              <a:defRPr sz="2200">
                <a:solidFill>
                  <a:srgbClr val="0B6623"/>
                </a:solidFill>
              </a:defRPr>
            </a:pPr>
            <a:r>
              <a:t>Questions &amp; Discussion</a:t>
            </a:r>
          </a:p>
          <a:p>
            <a:pPr algn="ctr">
              <a:defRPr sz="1400">
                <a:solidFill>
                  <a:srgbClr val="BCBCBC"/>
                </a:solidFill>
              </a:defRPr>
            </a:pPr>
            <a:r>
              <a:t>Prepared by Elie Pethuel Ehoussou | IIT L3 Software Engineering</a:t>
            </a:r>
            <a:br/>
            <a:r>
              <a:t>Repository: Kpandji-Failure-Analysis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